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1194" r:id="rId3"/>
    <p:sldId id="272" r:id="rId4"/>
    <p:sldId id="1196" r:id="rId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8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6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5C87D-6F14-4C27-9548-2EECF253C54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8B847-B447-4928-8262-F52FE198A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50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84E16-9302-4217-83ED-488EFD751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E8F46A-CBEF-49E8-B4E4-07B961E03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E7B70-1C8B-4E5B-B21D-AA636827F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24C7DA-A71B-4456-BF77-A9074B1A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95F54-9A52-43FE-BBDC-D57C2EC6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350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8DD63-B306-4C2E-9AFD-471E7C25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09AAEE-6676-4568-8579-48C934A60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D47554-8F55-4CB8-B9A2-818B6837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B11D4-1837-4BBE-80C9-987E15CDE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B3B1C5-FA41-4DE7-A2B6-085BE2DF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299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25793-DD14-4C07-AEF9-75C99AEF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11E3CB-8DDB-4B93-974C-2464810B2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42432C-0C67-4C15-9C48-2E161335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50B0DA-FF4B-4809-9026-6CBF4204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381CE-4154-47D8-AA1E-D6108940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86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5B8DC-AE28-4C41-ADA6-380C3D4F9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0B5870-2D32-47DF-9115-D470668B2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0157A1-A021-4B7E-8DE1-74DACDA8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182515-3260-4C57-B567-243CC0F12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CFA7B-A056-4C63-A257-F9ABE08F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DEEC82-AA6E-4363-A9D6-8E70B4CA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074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44F2D-98B5-4C4A-B26F-E61A67BA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4A95E-F798-4B60-A25A-2BA9AA8F8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10EF5D-3DF1-405A-BE63-7EA0F09C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CA4F16-D957-49C6-B598-F8F3BF256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BB268-6217-44A3-B478-F9654C44A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DB74A6-81D7-456D-BE28-CE5F44DF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772A7D-56A4-49FD-B5BB-C770FD19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19F959-28BB-4E3D-B2B3-9D6D94EC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029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1D602-8723-4366-AACF-065DB141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F4E310-292C-45F9-9F07-3D6A2036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027D40-2780-4694-969F-29BD0113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E8C5FF-21C9-47CF-A575-5A3D82A7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33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443124-7A6F-404A-8DE6-CD6931D2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83ADC3-34BF-4378-910D-A4DE8C38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FEB7D9-B8E4-4B6F-82F9-3D340697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4151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148F3-3861-4051-A05E-458F8820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1404E9-8FF6-42C8-AD8B-0AFFA9322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9E63ED-7E65-4287-AAB6-B7544D9CB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6E993E-95D3-4E2D-A296-AF7CF421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043041-BF6B-4668-9F63-9F0F029C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39B139-5E3B-4C56-A9C6-6BD07C20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375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30D52-C5A2-4726-89EC-B5BEFFB8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C91E1C-DB1B-4EBF-837C-F944DC3CE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14AEAC-695F-4A62-94D3-C0C31DA1D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1850EE-71A5-4A74-A3F3-87B8C57D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981EC0-4266-4A03-B611-2442040E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8D79D9-4EA2-4568-B991-4E57ABF4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757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FF254-317F-4A94-92F4-0041B80F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F004E1-3C1A-49F0-A374-BC537A2D7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6DDEB6-D34B-4B93-A772-773AEAB2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5C1727-9D14-4D64-86FB-C0627EDA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B969F0-5038-4B33-8429-4E4EE5D2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369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A538A5-395C-41CE-AAA1-059C2B7A3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556E6F-5646-4950-8336-9744A422D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EF23DF-A73B-4118-909E-D93A8DEC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5A6ED-7A72-44E8-9F72-77D5C1E6C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4AD03-A424-40D1-B40A-E92C35EA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352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1ABE3E-E6BE-4EAC-86B1-49D0C3AED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89F94D-B9B1-4ACE-8D64-19B2ADD19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21B3FC-7CAC-4189-A3C2-3EBABE431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8D8B3-A18E-40D4-A854-91BE1181EBB4}" type="datetimeFigureOut">
              <a:rPr lang="ko-KR" altLang="en-US" smtClean="0"/>
              <a:t>2026-01-16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C0D91-AD3D-41F9-94B8-EEA7B374B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87B66F-E23B-4480-B8AB-0CD5A9800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538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육상 차량, 차량, 바퀴, 자동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2E7AC-3D5D-8973-CA76-210450DA8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57" y="933787"/>
            <a:ext cx="2812561" cy="1406258"/>
          </a:xfrm>
          <a:prstGeom prst="rect">
            <a:avLst/>
          </a:prstGeom>
        </p:spPr>
      </p:pic>
      <p:pic>
        <p:nvPicPr>
          <p:cNvPr id="12" name="그림 11" descr="교통, 차량, 운송 모드, 육상 차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1394FE-82FE-0F33-C2E1-49E239AA9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34" y="933787"/>
            <a:ext cx="2815553" cy="1406258"/>
          </a:xfrm>
          <a:prstGeom prst="rect">
            <a:avLst/>
          </a:prstGeom>
        </p:spPr>
      </p:pic>
      <p:pic>
        <p:nvPicPr>
          <p:cNvPr id="17" name="그림 16" descr="교통, 선박, 보트, 조선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6513FC-7F88-180C-FAC3-A424D1C3B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56" y="4696300"/>
            <a:ext cx="2812561" cy="1406260"/>
          </a:xfrm>
          <a:prstGeom prst="rect">
            <a:avLst/>
          </a:prstGeom>
        </p:spPr>
      </p:pic>
      <p:pic>
        <p:nvPicPr>
          <p:cNvPr id="23" name="그림 22" descr="교통, 기차, 대중 교통, 철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58D4BF-469F-C258-1776-64DD29666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697733" y="4696301"/>
            <a:ext cx="2812560" cy="1406259"/>
          </a:xfrm>
          <a:prstGeom prst="rect">
            <a:avLst/>
          </a:prstGeom>
        </p:spPr>
      </p:pic>
      <p:pic>
        <p:nvPicPr>
          <p:cNvPr id="25" name="그림 24" descr="교통, 차량, 바퀴, 육상 차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27E270-8FD4-F477-BE1D-296D2D19B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555" y="933787"/>
            <a:ext cx="2812564" cy="140625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BFB6D05-6175-EA7A-98EF-9B82BE778BF7}"/>
              </a:ext>
            </a:extLst>
          </p:cNvPr>
          <p:cNvSpPr txBox="1"/>
          <p:nvPr/>
        </p:nvSpPr>
        <p:spPr>
          <a:xfrm>
            <a:off x="7482502" y="2829965"/>
            <a:ext cx="433349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The system captures frontal airflow for centrifugal </a:t>
            </a:r>
          </a:p>
          <a:p>
            <a:r>
              <a:rPr lang="en-US" altLang="ko-KR" sz="1400" dirty="0"/>
              <a:t>power generation and controlled exhaust to </a:t>
            </a:r>
          </a:p>
          <a:p>
            <a:r>
              <a:rPr lang="en-US" altLang="ko-KR" sz="1400" dirty="0"/>
              <a:t>minimize drag, with a single central turbine and </a:t>
            </a:r>
          </a:p>
          <a:p>
            <a:r>
              <a:rPr lang="en-US" altLang="ko-KR" sz="1400" dirty="0"/>
              <a:t>Symmetrically positioned side generators provide </a:t>
            </a:r>
          </a:p>
          <a:p>
            <a:r>
              <a:rPr lang="en-US" altLang="ko-KR" sz="1400" dirty="0"/>
              <a:t>stable, tip-free operation.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658951-D42B-0F71-9D21-BC27DA246E2E}"/>
              </a:ext>
            </a:extLst>
          </p:cNvPr>
          <p:cNvSpPr txBox="1"/>
          <p:nvPr/>
        </p:nvSpPr>
        <p:spPr>
          <a:xfrm>
            <a:off x="969353" y="3045408"/>
            <a:ext cx="36013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Multi-Stage Compressed Dual-Flow </a:t>
            </a:r>
          </a:p>
          <a:p>
            <a:r>
              <a:rPr lang="en-US" altLang="ko-KR" sz="1400" b="1" dirty="0"/>
              <a:t>Wind Turbine Generator</a:t>
            </a:r>
          </a:p>
          <a:p>
            <a:r>
              <a:rPr lang="en-US" altLang="ko-KR" sz="1400" b="1" dirty="0"/>
              <a:t>(Single-Turbine Dual-Generator System)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E9441E4-3CC8-C007-981D-0CEEBF9A92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6827" y="2837981"/>
            <a:ext cx="1999571" cy="1169551"/>
          </a:xfrm>
          <a:prstGeom prst="rect">
            <a:avLst/>
          </a:prstGeom>
        </p:spPr>
      </p:pic>
      <p:pic>
        <p:nvPicPr>
          <p:cNvPr id="34" name="그림 33" descr="하늘, 비행기, 야외, 구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2F407E-A18D-1953-0C3C-F22FB305F4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555" y="4696301"/>
            <a:ext cx="2812560" cy="140626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657B46C-7BE8-7FCA-C302-AF2DE8DC9BB7}"/>
              </a:ext>
            </a:extLst>
          </p:cNvPr>
          <p:cNvSpPr txBox="1"/>
          <p:nvPr/>
        </p:nvSpPr>
        <p:spPr>
          <a:xfrm>
            <a:off x="969353" y="109108"/>
            <a:ext cx="10521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Wind energy scales with the cube of wind speed, and when efficiently harnessed, </a:t>
            </a:r>
          </a:p>
          <a:p>
            <a:r>
              <a:rPr lang="en-US" altLang="ko-KR" b="1" dirty="0"/>
              <a:t>It can enable a future of mobility that requires no external charging beyond self-generation.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3871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3AD26-FD77-C0FC-B272-C1B6B326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E26E68-3C68-1DB0-D7B0-0DDF0E4E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44" y="4306942"/>
            <a:ext cx="3005530" cy="22748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38E6EBC-102F-63CC-25CC-BF0262594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398" y="4244112"/>
            <a:ext cx="3005530" cy="23376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F7E1E0-2FA6-CA8D-0D88-4C2A6891F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44" y="1079191"/>
            <a:ext cx="2900219" cy="30008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1F5980-4266-3161-F8F0-E92466CB1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398" y="1079191"/>
            <a:ext cx="3005530" cy="22731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3A98EDC-9895-3C92-D2FD-3B2B2D2B1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4600326" y="2750865"/>
            <a:ext cx="3043057" cy="15299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446A7D3-F3EB-8ACC-20E7-E87903934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1315704" y="1144776"/>
            <a:ext cx="735384" cy="3697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2BD6875-F027-4FE4-2D0B-334E6181E0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1288609" y="4677685"/>
            <a:ext cx="735384" cy="3697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3B7C12B-D527-7148-699E-FFA75F84EF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2149592" y="4552461"/>
            <a:ext cx="735384" cy="3697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D87E830-EA7F-CAC3-0174-6B863D633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9325779" y="4280786"/>
            <a:ext cx="735384" cy="3697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176260C-3D82-52E9-0BF9-4E1DA6B5F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10217088" y="1403658"/>
            <a:ext cx="735384" cy="369720"/>
          </a:xfrm>
          <a:prstGeom prst="rect">
            <a:avLst/>
          </a:prstGeom>
        </p:spPr>
      </p:pic>
      <p:cxnSp>
        <p:nvCxnSpPr>
          <p:cNvPr id="16" name="구부러진 연결선 15">
            <a:extLst>
              <a:ext uri="{FF2B5EF4-FFF2-40B4-BE49-F238E27FC236}">
                <a16:creationId xmlns:a16="http://schemas.microsoft.com/office/drawing/2014/main" id="{6FFCC6B8-9E88-B989-1079-2E5F410D348D}"/>
              </a:ext>
            </a:extLst>
          </p:cNvPr>
          <p:cNvCxnSpPr/>
          <p:nvPr/>
        </p:nvCxnSpPr>
        <p:spPr>
          <a:xfrm rot="10800000">
            <a:off x="2255956" y="1388060"/>
            <a:ext cx="2328181" cy="2186190"/>
          </a:xfrm>
          <a:prstGeom prst="curved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구부러진 연결선 17">
            <a:extLst>
              <a:ext uri="{FF2B5EF4-FFF2-40B4-BE49-F238E27FC236}">
                <a16:creationId xmlns:a16="http://schemas.microsoft.com/office/drawing/2014/main" id="{C825D586-0867-0A2A-8E2E-CB85D258CD30}"/>
              </a:ext>
            </a:extLst>
          </p:cNvPr>
          <p:cNvCxnSpPr/>
          <p:nvPr/>
        </p:nvCxnSpPr>
        <p:spPr>
          <a:xfrm flipV="1">
            <a:off x="7643383" y="1609931"/>
            <a:ext cx="2573705" cy="1742448"/>
          </a:xfrm>
          <a:prstGeom prst="curved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구부러진 연결선 19">
            <a:extLst>
              <a:ext uri="{FF2B5EF4-FFF2-40B4-BE49-F238E27FC236}">
                <a16:creationId xmlns:a16="http://schemas.microsoft.com/office/drawing/2014/main" id="{25B7BE65-7D72-0E6A-2722-D3F44F54D89B}"/>
              </a:ext>
            </a:extLst>
          </p:cNvPr>
          <p:cNvCxnSpPr/>
          <p:nvPr/>
        </p:nvCxnSpPr>
        <p:spPr>
          <a:xfrm rot="10800000" flipV="1">
            <a:off x="2921453" y="3561978"/>
            <a:ext cx="1678872" cy="1221495"/>
          </a:xfrm>
          <a:prstGeom prst="curved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구부러진 연결선 21">
            <a:extLst>
              <a:ext uri="{FF2B5EF4-FFF2-40B4-BE49-F238E27FC236}">
                <a16:creationId xmlns:a16="http://schemas.microsoft.com/office/drawing/2014/main" id="{14333021-4B9D-A087-6E50-BCC7577290B0}"/>
              </a:ext>
            </a:extLst>
          </p:cNvPr>
          <p:cNvCxnSpPr/>
          <p:nvPr/>
        </p:nvCxnSpPr>
        <p:spPr>
          <a:xfrm>
            <a:off x="7643383" y="3352379"/>
            <a:ext cx="1592981" cy="954563"/>
          </a:xfrm>
          <a:prstGeom prst="curved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37BF9C97-67BB-E6DD-FBC5-17BA8084D5C9}"/>
              </a:ext>
            </a:extLst>
          </p:cNvPr>
          <p:cNvSpPr/>
          <p:nvPr/>
        </p:nvSpPr>
        <p:spPr>
          <a:xfrm>
            <a:off x="1293055" y="3222869"/>
            <a:ext cx="455034" cy="351382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8ABBC663-9873-9C24-7A98-5B7B15B399A9}"/>
              </a:ext>
            </a:extLst>
          </p:cNvPr>
          <p:cNvSpPr/>
          <p:nvPr/>
        </p:nvSpPr>
        <p:spPr>
          <a:xfrm>
            <a:off x="10497438" y="2750643"/>
            <a:ext cx="455034" cy="351382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CE881B0D-6A66-68B5-3E7A-2262C925A3CB}"/>
              </a:ext>
            </a:extLst>
          </p:cNvPr>
          <p:cNvSpPr/>
          <p:nvPr/>
        </p:nvSpPr>
        <p:spPr>
          <a:xfrm>
            <a:off x="1321511" y="5765147"/>
            <a:ext cx="455034" cy="351382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38F23C1B-437C-7F51-8FE5-A4CC0E258D80}"/>
              </a:ext>
            </a:extLst>
          </p:cNvPr>
          <p:cNvSpPr/>
          <p:nvPr/>
        </p:nvSpPr>
        <p:spPr>
          <a:xfrm>
            <a:off x="10857310" y="6044578"/>
            <a:ext cx="455034" cy="351382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239DC4-8F57-3772-8442-E1CF2B43E9BF}"/>
              </a:ext>
            </a:extLst>
          </p:cNvPr>
          <p:cNvSpPr txBox="1"/>
          <p:nvPr/>
        </p:nvSpPr>
        <p:spPr>
          <a:xfrm>
            <a:off x="4896336" y="5399085"/>
            <a:ext cx="23834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   Battery charging </a:t>
            </a:r>
          </a:p>
          <a:p>
            <a:r>
              <a:rPr lang="en-US" altLang="ko-KR" b="1" dirty="0"/>
              <a:t>   delivery station.</a:t>
            </a:r>
          </a:p>
          <a:p>
            <a:r>
              <a:rPr lang="en-US" altLang="ko-KR" sz="1200" b="1" dirty="0"/>
              <a:t>(</a:t>
            </a:r>
            <a:r>
              <a:rPr lang="en-US" altLang="ko-KR" sz="1200" dirty="0"/>
              <a:t>Rechargeable Battery Delivery)</a:t>
            </a:r>
          </a:p>
        </p:txBody>
      </p:sp>
      <p:cxnSp>
        <p:nvCxnSpPr>
          <p:cNvPr id="29" name="구부러진 연결선 28">
            <a:extLst>
              <a:ext uri="{FF2B5EF4-FFF2-40B4-BE49-F238E27FC236}">
                <a16:creationId xmlns:a16="http://schemas.microsoft.com/office/drawing/2014/main" id="{3AE06411-28BB-7E94-2ADE-347D2F34EE07}"/>
              </a:ext>
            </a:extLst>
          </p:cNvPr>
          <p:cNvCxnSpPr>
            <a:stCxn id="27" idx="3"/>
          </p:cNvCxnSpPr>
          <p:nvPr/>
        </p:nvCxnSpPr>
        <p:spPr>
          <a:xfrm>
            <a:off x="7279745" y="5814584"/>
            <a:ext cx="3577565" cy="334572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구부러진 연결선 30">
            <a:extLst>
              <a:ext uri="{FF2B5EF4-FFF2-40B4-BE49-F238E27FC236}">
                <a16:creationId xmlns:a16="http://schemas.microsoft.com/office/drawing/2014/main" id="{E658553C-4A9D-C481-1005-29D136805FD0}"/>
              </a:ext>
            </a:extLst>
          </p:cNvPr>
          <p:cNvCxnSpPr>
            <a:stCxn id="27" idx="1"/>
          </p:cNvCxnSpPr>
          <p:nvPr/>
        </p:nvCxnSpPr>
        <p:spPr>
          <a:xfrm rot="10800000" flipV="1">
            <a:off x="1648692" y="5814584"/>
            <a:ext cx="3247644" cy="5514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구부러진 연결선 32">
            <a:extLst>
              <a:ext uri="{FF2B5EF4-FFF2-40B4-BE49-F238E27FC236}">
                <a16:creationId xmlns:a16="http://schemas.microsoft.com/office/drawing/2014/main" id="{DCFE96F8-5AB8-B510-1B76-58A3FB91C0C9}"/>
              </a:ext>
            </a:extLst>
          </p:cNvPr>
          <p:cNvCxnSpPr>
            <a:stCxn id="27" idx="3"/>
          </p:cNvCxnSpPr>
          <p:nvPr/>
        </p:nvCxnSpPr>
        <p:spPr>
          <a:xfrm flipV="1">
            <a:off x="7279745" y="2821784"/>
            <a:ext cx="3350048" cy="299280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구부러진 연결선 34">
            <a:extLst>
              <a:ext uri="{FF2B5EF4-FFF2-40B4-BE49-F238E27FC236}">
                <a16:creationId xmlns:a16="http://schemas.microsoft.com/office/drawing/2014/main" id="{B5B9778F-2029-765A-9E8A-F952996BB076}"/>
              </a:ext>
            </a:extLst>
          </p:cNvPr>
          <p:cNvCxnSpPr>
            <a:stCxn id="27" idx="1"/>
          </p:cNvCxnSpPr>
          <p:nvPr/>
        </p:nvCxnSpPr>
        <p:spPr>
          <a:xfrm rot="10800000">
            <a:off x="1569450" y="3321142"/>
            <a:ext cx="3326886" cy="2493443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5A156A4-1D0D-057B-552D-546959C92A61}"/>
              </a:ext>
            </a:extLst>
          </p:cNvPr>
          <p:cNvSpPr txBox="1"/>
          <p:nvPr/>
        </p:nvSpPr>
        <p:spPr>
          <a:xfrm>
            <a:off x="1543779" y="233192"/>
            <a:ext cx="9041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It can be installed on the roof of a building as it eliminates vibration and noise.</a:t>
            </a:r>
          </a:p>
          <a:p>
            <a:r>
              <a:rPr lang="en-US" altLang="ko-KR" b="1" dirty="0"/>
              <a:t>Roadsides will no longer require utility poles or overhead power lines.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59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A20D01-C53A-DABA-2F5C-B09E3F116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214" y="2792545"/>
            <a:ext cx="1999571" cy="1169551"/>
          </a:xfrm>
          <a:prstGeom prst="rect">
            <a:avLst/>
          </a:prstGeom>
        </p:spPr>
      </p:pic>
      <p:pic>
        <p:nvPicPr>
          <p:cNvPr id="5" name="그림 4" descr="하늘, 공장, 야외, 구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B3EE2A-8066-FC75-B5C0-0B5EB8385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694220"/>
            <a:ext cx="3562121" cy="1835024"/>
          </a:xfrm>
          <a:prstGeom prst="rect">
            <a:avLst/>
          </a:prstGeom>
        </p:spPr>
      </p:pic>
      <p:pic>
        <p:nvPicPr>
          <p:cNvPr id="7" name="그림 6" descr="하늘, 야외, 구름,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DB915D-4581-4788-B214-07B13A272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788" y="694220"/>
            <a:ext cx="3486637" cy="1835024"/>
          </a:xfrm>
          <a:prstGeom prst="rect">
            <a:avLst/>
          </a:prstGeom>
        </p:spPr>
      </p:pic>
      <p:pic>
        <p:nvPicPr>
          <p:cNvPr id="9" name="그림 8" descr="건물, 항공 사진, 야외, 공중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D5514B-A2E0-18E6-3C8D-D46C1ADED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225401"/>
            <a:ext cx="3562121" cy="1835024"/>
          </a:xfrm>
          <a:prstGeom prst="rect">
            <a:avLst/>
          </a:prstGeom>
        </p:spPr>
      </p:pic>
      <p:pic>
        <p:nvPicPr>
          <p:cNvPr id="11" name="그림 10" descr="야외, 구름, 수자원, 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D3CCDA-1AB4-27CD-40CE-ADF28923C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4788" y="4225400"/>
            <a:ext cx="3486637" cy="18350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DD68E1-298A-1EF4-D483-4AD5EC1FCF81}"/>
              </a:ext>
            </a:extLst>
          </p:cNvPr>
          <p:cNvSpPr txBox="1"/>
          <p:nvPr/>
        </p:nvSpPr>
        <p:spPr>
          <a:xfrm>
            <a:off x="1388490" y="248383"/>
            <a:ext cx="2494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Thermal power plant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85060-C5FC-7433-A0ED-2EE2862C1506}"/>
              </a:ext>
            </a:extLst>
          </p:cNvPr>
          <p:cNvSpPr txBox="1"/>
          <p:nvPr/>
        </p:nvSpPr>
        <p:spPr>
          <a:xfrm>
            <a:off x="8648053" y="248383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Incineration plant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8AAB84-EB32-8A53-A4A1-1EA2BF1BCF13}"/>
              </a:ext>
            </a:extLst>
          </p:cNvPr>
          <p:cNvSpPr txBox="1"/>
          <p:nvPr/>
        </p:nvSpPr>
        <p:spPr>
          <a:xfrm>
            <a:off x="1019927" y="6060423"/>
            <a:ext cx="3281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Wastewater treatment plant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8DA063-494F-3CBD-E745-68DBF3B81478}"/>
              </a:ext>
            </a:extLst>
          </p:cNvPr>
          <p:cNvSpPr txBox="1"/>
          <p:nvPr/>
        </p:nvSpPr>
        <p:spPr>
          <a:xfrm>
            <a:off x="8482879" y="6036569"/>
            <a:ext cx="2500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The Mississippi River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31B6B4-B6D9-59E4-C352-E1050419BA2D}"/>
              </a:ext>
            </a:extLst>
          </p:cNvPr>
          <p:cNvSpPr txBox="1"/>
          <p:nvPr/>
        </p:nvSpPr>
        <p:spPr>
          <a:xfrm>
            <a:off x="7784995" y="2684821"/>
            <a:ext cx="389587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This is a multi-purpose turbine generator </a:t>
            </a:r>
          </a:p>
          <a:p>
            <a:r>
              <a:rPr lang="en-US" altLang="ko-KR" sz="1400" dirty="0"/>
              <a:t>applicable to wind, in-stream hydropower, </a:t>
            </a:r>
          </a:p>
          <a:p>
            <a:r>
              <a:rPr lang="en-US" altLang="ko-KR" sz="1400" dirty="0"/>
              <a:t>tidal energy, and thermal steam systems, </a:t>
            </a:r>
          </a:p>
          <a:p>
            <a:r>
              <a:rPr lang="en-US" altLang="ko-KR" sz="1400" dirty="0"/>
              <a:t>enabling simultaneous power generation, </a:t>
            </a:r>
          </a:p>
          <a:p>
            <a:r>
              <a:rPr lang="en-US" altLang="ko-KR" sz="1400" dirty="0"/>
              <a:t>seawater desalination, waste-heat utilization, </a:t>
            </a:r>
          </a:p>
          <a:p>
            <a:r>
              <a:rPr lang="en-US" altLang="ko-KR" sz="1400" dirty="0"/>
              <a:t>and wastewater treatment with water reuse.</a:t>
            </a:r>
            <a:endParaRPr lang="en-US" altLang="ko-KR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33971-A280-3D73-9191-CD3F28128815}"/>
              </a:ext>
            </a:extLst>
          </p:cNvPr>
          <p:cNvSpPr txBox="1"/>
          <p:nvPr/>
        </p:nvSpPr>
        <p:spPr>
          <a:xfrm>
            <a:off x="702904" y="2792544"/>
            <a:ext cx="408611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All-purpose turbine generator for wind, </a:t>
            </a:r>
          </a:p>
          <a:p>
            <a:r>
              <a:rPr lang="en-US" altLang="ko-KR" sz="1400" b="1" dirty="0"/>
              <a:t>hydropower, and thermal power applications.</a:t>
            </a:r>
          </a:p>
          <a:p>
            <a:endParaRPr lang="en-US" altLang="ko-KR" sz="1400" b="1" dirty="0"/>
          </a:p>
          <a:p>
            <a:r>
              <a:rPr lang="en-US" altLang="ko-KR" sz="1400" b="1" dirty="0">
                <a:solidFill>
                  <a:srgbClr val="00B0F0"/>
                </a:solidFill>
              </a:rPr>
              <a:t>The universal turbine generator enables </a:t>
            </a:r>
          </a:p>
          <a:p>
            <a:r>
              <a:rPr lang="en-US" altLang="ko-KR" sz="1400" b="1" dirty="0">
                <a:solidFill>
                  <a:srgbClr val="00B0F0"/>
                </a:solidFill>
              </a:rPr>
              <a:t>a new era of water reuse.</a:t>
            </a:r>
          </a:p>
        </p:txBody>
      </p:sp>
    </p:spTree>
    <p:extLst>
      <p:ext uri="{BB962C8B-B14F-4D97-AF65-F5344CB8AC3E}">
        <p14:creationId xmlns:p14="http://schemas.microsoft.com/office/powerpoint/2010/main" val="172281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004438-A423-B3F2-0893-2C137353B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43" y="0"/>
            <a:ext cx="11818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22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9110</TotalTime>
  <Words>189</Words>
  <Application>Microsoft Office PowerPoint</Application>
  <PresentationFormat>와이드스크린</PresentationFormat>
  <Paragraphs>30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 영숙</dc:creator>
  <cp:lastModifiedBy>성근 손</cp:lastModifiedBy>
  <cp:revision>171</cp:revision>
  <cp:lastPrinted>2024-01-22T11:41:53Z</cp:lastPrinted>
  <dcterms:created xsi:type="dcterms:W3CDTF">2022-03-02T09:56:48Z</dcterms:created>
  <dcterms:modified xsi:type="dcterms:W3CDTF">2026-01-16T03:00:39Z</dcterms:modified>
</cp:coreProperties>
</file>